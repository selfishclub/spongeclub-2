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박상현입니다. 오늘 발표는 제가 만든 개인 OS '아라미러'를, 오늘 하루 어디까지 진전시켰는지에 대한 짧은 빌드 리포트입니다. 아라미러의 핵심 문장은 하나입니다 — 'AI는 나를 대신하지 않는다, 거울이 된다.' AI가 저를 대신 완성하는 게 아니라, 제 생각을 비추고 되물어서 자산으로 바꿔주는 환경을 만들고 있습니다. 5분 안에, 무엇을 만들었고 오늘 무엇을 붙였는지, 그리고 어떻게 만들었는지 핵심만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아라미러가 뭔지 한 문장으로 말하면, 메모앱이 아니라 '생각이 자산이 되는 환경'입니다. 구조는 세 층입니다. 1층 사고 — 떠오른 생각을 텔레그램으로 그냥 던집니다. 정리도 태그도 필요 없어요, 입력 마찰이 0이어야 계속 쓰니까요. 2층 지식 — 밤마다 AI가 그 조각들을 지난 기록과 자동으로 엮어서 위키 지식으로 승격시킵니다. 3층 자산 — 그렇게 성숙한 생각이 아라미러라는 제 사이트에 글과 개발일지로 발행됩니다. 즉 던지면 알아서 엮이고 자산이 되는 루프입니다. 오늘은 이 3층 '자산' 파트를 크게 키웠습니다.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붙인 핵심은 '게시판'과 '관리자 콘솔'입니다. 출발점은 오늘 오전 에이든의 이기적스폰지 공유회였어요. 그 공유회 두 번째 아젠다가 정확히 'KEY 연결로 CRUD 게시판 만들기'였고, 마침 제가 필요하던 거라 바로 적용했습니다. 결과물은 두 개입니다. 하나는 공개 게시판 슬래시 board — 카테고리로 분류하고 글을 읽습니다. 다른 하나는 관리자 콘솔 슬래시 admin — 글을 만들고 고치고 지우고, 사이트 웹페이지 노출까지 상위에서 관리하고, 데이터를 백업합니다. 암호로 잠가뒀습니다. 아라미러는 깃허브 페이지 정적 사이트인데도, 이 CRUD가 실제로 동작합니다. 지금은 브라우저에 저장되고, 서버로 올릴 준비까지 끝냈습니다.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어떻게 만들었는지도 공유회에서 배운 방법 그대로입니다. 핵심 문장은 '재활용이 자동화의 핵심이고, 그게 스킬이다'예요. 첫째, 공유회에서 올라온 스크린샷 32장을 제가 일일이 보지 않고 서브에이전트를 시켜 병렬로 MECE하게 정리했습니다. 공유회 마지막 주제였던 서브에이전트를 문서화에 바로 써먹은 거죠. 둘째, 디자인은 지금 제 홈페이지와 똑같은 블랙앤화이트, 여백 위주로 맞췄습니다. 잘 만든 걸 레퍼런스로 카피하며 배우라는 것도 공유회 내용입니다. 셋째, 만든 화면을 스크린샷으로 자가검수하다가 실제 버그를 두 개 잡았어요. 하나는 빈 팝업이 뜨던 것, 하나는 로그인 후 새로고침하면 관리자 화면이 깨지던 겁니다. 스크린샷 안 찍었으면 그대로 나갈 뻔했습니다. 넷째, 배포할 때 기존에 올려둔 다른 앱들을 지우지 않도록 안전하게 배포했습니다.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결과와 다음 계획입니다. 오늘 만든 게시판과 관리자는 이미 라이브에 올라가 있습니다. 주소는 hyun-arch 점 github 점 io 슬래시 board, 그리고 슬래시 admin입니다. 발견한 버그 두 개도 수정해서 다시 배포하고 재검증까지 마쳤습니다. 다음 단계는 '진짜 서버'입니다. 지금은 브라우저 저장이지만, Supabase와 Vercel을 연결하면 어느 기기에서 접속해도 같은 데이터가 보이는 실서버 CRUD가 됩니다. 코드는 이미 다 짜뒀고, 키만 꽂으면 됩니다. 정리하면, 제가 오늘 배운 건 이 한 문장입니다 — '기록이 아니라 승격이 핵심이다.' 던진 생각이 연결되고 자산이 될 때, 비로소 AI가 저를 비추는 거울이 됩니다.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868680"/>
            <a:ext cx="10058400" cy="365760"/>
          </a:xfrm>
          <a:prstGeom prst="rect">
            <a:avLst/>
          </a:prstGeom>
          <a:noFill/>
        </p:spPr>
        <p:txBody>
          <a:bodyPr wrap="square" anchor="t" lIns="0" rIns="0" tIns="0" bIns="0">
            <a:spAutoFit/>
          </a:bodyPr>
          <a:lstStyle/>
          <a:p>
            <a:pPr algn="l">
              <a:lnSpc>
                <a:spcPct val="115000"/>
              </a:lnSpc>
            </a:pPr>
            <a:r>
              <a:rPr sz="1300" b="1">
                <a:solidFill>
                  <a:srgbClr val="6E6E73"/>
                </a:solidFill>
                <a:latin typeface="맑은 고딕"/>
                <a:ea typeface="맑은 고딕"/>
                <a:cs typeface="맑은 고딕"/>
              </a:rPr>
              <a:t>ARAMIRROR  ·  BUILD REPORT</a:t>
            </a:r>
          </a:p>
        </p:txBody>
      </p:sp>
      <p:cxnSp>
        <p:nvCxnSpPr>
          <p:cNvPr id="4" name="Connector 3"/>
          <p:cNvCxnSpPr/>
          <p:nvPr/>
        </p:nvCxnSpPr>
        <p:spPr>
          <a:xfrm>
            <a:off x="868680" y="1371600"/>
            <a:ext cx="566928" cy="0"/>
          </a:xfrm>
          <a:prstGeom prst="bentConnector3">
            <a:avLst/>
          </a:prstGeom>
          <a:ln w="27940">
            <a:solidFill>
              <a:srgbClr val="1D1D1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68680" y="2148840"/>
            <a:ext cx="10424160" cy="2194560"/>
          </a:xfrm>
          <a:prstGeom prst="rect">
            <a:avLst/>
          </a:prstGeom>
          <a:noFill/>
        </p:spPr>
        <p:txBody>
          <a:bodyPr wrap="square" anchor="t" lIns="0" rIns="0" tIns="0" bIns="0">
            <a:spAutoFit/>
          </a:bodyPr>
          <a:lstStyle/>
          <a:p>
            <a:pPr algn="l">
              <a:lnSpc>
                <a:spcPct val="105000"/>
              </a:lnSpc>
            </a:pPr>
            <a:r>
              <a:rPr sz="4600" b="1">
                <a:solidFill>
                  <a:srgbClr val="1D1D1F"/>
                </a:solidFill>
                <a:latin typeface="맑은 고딕"/>
                <a:ea typeface="맑은 고딕"/>
                <a:cs typeface="맑은 고딕"/>
              </a:rPr>
              <a:t>AI는 나를 대신하지 않는다 —</a:t>
            </a:r>
          </a:p>
          <a:p>
            <a:pPr algn="l">
              <a:lnSpc>
                <a:spcPct val="105000"/>
              </a:lnSpc>
            </a:pPr>
            <a:r>
              <a:rPr sz="4600" b="1">
                <a:solidFill>
                  <a:srgbClr val="1D1D1F"/>
                </a:solidFill>
                <a:latin typeface="맑은 고딕"/>
                <a:ea typeface="맑은 고딕"/>
                <a:cs typeface="맑은 고딕"/>
              </a:rPr>
              <a:t>거울</a:t>
            </a:r>
            <a:r>
              <a:rPr sz="4600" b="1">
                <a:solidFill>
                  <a:srgbClr val="1D1D1F"/>
                </a:solidFill>
                <a:latin typeface="맑은 고딕"/>
                <a:ea typeface="맑은 고딕"/>
                <a:cs typeface="맑은 고딕"/>
              </a:rPr>
              <a:t>이 된다.</a:t>
            </a:r>
          </a:p>
        </p:txBody>
      </p:sp>
      <p:sp>
        <p:nvSpPr>
          <p:cNvPr id="6" name="TextBox 5"/>
          <p:cNvSpPr txBox="1"/>
          <p:nvPr/>
        </p:nvSpPr>
        <p:spPr>
          <a:xfrm>
            <a:off x="868680" y="4343400"/>
            <a:ext cx="10058400" cy="457200"/>
          </a:xfrm>
          <a:prstGeom prst="rect">
            <a:avLst/>
          </a:prstGeom>
          <a:noFill/>
        </p:spPr>
        <p:txBody>
          <a:bodyPr wrap="square" anchor="t" lIns="0" rIns="0" tIns="0" bIns="0">
            <a:spAutoFit/>
          </a:bodyPr>
          <a:lstStyle/>
          <a:p>
            <a:pPr algn="l">
              <a:lnSpc>
                <a:spcPct val="115000"/>
              </a:lnSpc>
            </a:pPr>
            <a:r>
              <a:rPr sz="1800" b="0">
                <a:solidFill>
                  <a:srgbClr val="424245"/>
                </a:solidFill>
                <a:latin typeface="맑은 고딕"/>
                <a:ea typeface="맑은 고딕"/>
                <a:cs typeface="맑은 고딕"/>
              </a:rPr>
              <a:t>생각이 자산이 되는 환경 — 오늘까지의 빌드 리포트</a:t>
            </a:r>
          </a:p>
        </p:txBody>
      </p:sp>
      <p:sp>
        <p:nvSpPr>
          <p:cNvPr id="7" name="TextBox 6"/>
          <p:cNvSpPr txBox="1"/>
          <p:nvPr/>
        </p:nvSpPr>
        <p:spPr>
          <a:xfrm>
            <a:off x="868680" y="4892040"/>
            <a:ext cx="10058400" cy="365760"/>
          </a:xfrm>
          <a:prstGeom prst="rect">
            <a:avLst/>
          </a:prstGeom>
          <a:noFill/>
        </p:spPr>
        <p:txBody>
          <a:bodyPr wrap="square" anchor="t" lIns="0" rIns="0" tIns="0" bIns="0">
            <a:spAutoFit/>
          </a:bodyPr>
          <a:lstStyle/>
          <a:p>
            <a:pPr algn="l">
              <a:lnSpc>
                <a:spcPct val="115000"/>
              </a:lnSpc>
            </a:pPr>
            <a:r>
              <a:rPr sz="1300" b="0">
                <a:solidFill>
                  <a:srgbClr val="6E6E73"/>
                </a:solidFill>
                <a:latin typeface="맑은 고딕"/>
                <a:ea typeface="맑은 고딕"/>
                <a:cs typeface="맑은 고딕"/>
              </a:rPr>
              <a:t>2026.07.04   ·   박상현(아람)   ·   스폰지클럽 2기 5조</a:t>
            </a:r>
          </a:p>
        </p:txBody>
      </p:sp>
      <p:cxnSp>
        <p:nvCxnSpPr>
          <p:cNvPr id="8" name="Connector 7"/>
          <p:cNvCxnSpPr/>
          <p:nvPr/>
        </p:nvCxnSpPr>
        <p:spPr>
          <a:xfrm>
            <a:off x="868680" y="6144768"/>
            <a:ext cx="10454335" cy="0"/>
          </a:xfrm>
          <a:prstGeom prst="bentConnector3">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68680" y="6236208"/>
            <a:ext cx="7315200" cy="365760"/>
          </a:xfrm>
          <a:prstGeom prst="rect">
            <a:avLst/>
          </a:prstGeom>
          <a:noFill/>
        </p:spPr>
        <p:txBody>
          <a:bodyPr wrap="square" anchor="t" lIns="0" rIns="0" tIns="0" bIns="0">
            <a:spAutoFit/>
          </a:bodyPr>
          <a:lstStyle/>
          <a:p>
            <a:pPr algn="l">
              <a:lnSpc>
                <a:spcPct val="115000"/>
              </a:lnSpc>
            </a:pPr>
            <a:r>
              <a:rPr sz="950" b="1">
                <a:solidFill>
                  <a:srgbClr val="6E6E73"/>
                </a:solidFill>
                <a:latin typeface="맑은 고딕"/>
                <a:ea typeface="맑은 고딕"/>
                <a:cs typeface="맑은 고딕"/>
              </a:rPr>
              <a:t>Aramirror</a:t>
            </a:r>
            <a:r>
              <a:rPr sz="950" b="0">
                <a:solidFill>
                  <a:srgbClr val="6E6E73"/>
                </a:solidFill>
                <a:latin typeface="맑은 고딕"/>
                <a:ea typeface="맑은 고딕"/>
                <a:cs typeface="맑은 고딕"/>
              </a:rPr>
              <a:t>  —  AI는 거울이 된다</a:t>
            </a:r>
          </a:p>
        </p:txBody>
      </p:sp>
      <p:sp>
        <p:nvSpPr>
          <p:cNvPr id="10" name="TextBox 9"/>
          <p:cNvSpPr txBox="1"/>
          <p:nvPr/>
        </p:nvSpPr>
        <p:spPr>
          <a:xfrm>
            <a:off x="9494215" y="6236208"/>
            <a:ext cx="1828800" cy="365760"/>
          </a:xfrm>
          <a:prstGeom prst="rect">
            <a:avLst/>
          </a:prstGeom>
          <a:noFill/>
        </p:spPr>
        <p:txBody>
          <a:bodyPr wrap="square" anchor="t" lIns="0" rIns="0" tIns="0" bIns="0">
            <a:spAutoFit/>
          </a:bodyPr>
          <a:lstStyle/>
          <a:p>
            <a:pPr algn="r">
              <a:lnSpc>
                <a:spcPct val="115000"/>
              </a:lnSpc>
            </a:pPr>
            <a:r>
              <a:rPr sz="950" b="0">
                <a:solidFill>
                  <a:srgbClr val="6E6E73"/>
                </a:solidFill>
                <a:latin typeface="맑은 고딕"/>
                <a:ea typeface="맑은 고딕"/>
                <a:cs typeface="맑은 고딕"/>
              </a:rPr>
              <a:t>01 /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58368"/>
            <a:ext cx="10058400" cy="365760"/>
          </a:xfrm>
          <a:prstGeom prst="rect">
            <a:avLst/>
          </a:prstGeom>
          <a:noFill/>
        </p:spPr>
        <p:txBody>
          <a:bodyPr wrap="square" anchor="t" lIns="0" rIns="0" tIns="0" bIns="0">
            <a:spAutoFit/>
          </a:bodyPr>
          <a:lstStyle/>
          <a:p>
            <a:pPr algn="l">
              <a:lnSpc>
                <a:spcPct val="115000"/>
              </a:lnSpc>
            </a:pPr>
            <a:r>
              <a:rPr sz="1200" b="1">
                <a:solidFill>
                  <a:srgbClr val="6E6E73"/>
                </a:solidFill>
                <a:latin typeface="맑은 고딕"/>
                <a:ea typeface="맑은 고딕"/>
                <a:cs typeface="맑은 고딕"/>
              </a:rPr>
              <a:t>01 · WHAT — 아라미러란</a:t>
            </a:r>
          </a:p>
        </p:txBody>
      </p:sp>
      <p:cxnSp>
        <p:nvCxnSpPr>
          <p:cNvPr id="4" name="Connector 3"/>
          <p:cNvCxnSpPr/>
          <p:nvPr/>
        </p:nvCxnSpPr>
        <p:spPr>
          <a:xfrm>
            <a:off x="868680" y="1024128"/>
            <a:ext cx="566928" cy="0"/>
          </a:xfrm>
          <a:prstGeom prst="bentConnector3">
            <a:avLst/>
          </a:prstGeom>
          <a:ln w="27940">
            <a:solidFill>
              <a:srgbClr val="1D1D1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68680" y="1417320"/>
            <a:ext cx="10424160" cy="914400"/>
          </a:xfrm>
          <a:prstGeom prst="rect">
            <a:avLst/>
          </a:prstGeom>
          <a:noFill/>
        </p:spPr>
        <p:txBody>
          <a:bodyPr wrap="square" anchor="t" lIns="0" rIns="0" tIns="0" bIns="0">
            <a:spAutoFit/>
          </a:bodyPr>
          <a:lstStyle/>
          <a:p>
            <a:pPr algn="l">
              <a:lnSpc>
                <a:spcPct val="115000"/>
              </a:lnSpc>
            </a:pPr>
            <a:r>
              <a:rPr sz="3800" b="1">
                <a:solidFill>
                  <a:srgbClr val="1D1D1F"/>
                </a:solidFill>
                <a:latin typeface="맑은 고딕"/>
                <a:ea typeface="맑은 고딕"/>
                <a:cs typeface="맑은 고딕"/>
              </a:rPr>
              <a:t>생각 → 지식 → 자산</a:t>
            </a:r>
          </a:p>
        </p:txBody>
      </p:sp>
      <p:sp>
        <p:nvSpPr>
          <p:cNvPr id="6" name="TextBox 5"/>
          <p:cNvSpPr txBox="1"/>
          <p:nvPr/>
        </p:nvSpPr>
        <p:spPr>
          <a:xfrm>
            <a:off x="868680" y="2514600"/>
            <a:ext cx="10454335" cy="3291840"/>
          </a:xfrm>
          <a:prstGeom prst="rect">
            <a:avLst/>
          </a:prstGeom>
          <a:noFill/>
        </p:spPr>
        <p:txBody>
          <a:bodyPr wrap="square" lIns="0" rIns="0" tIns="0" bIns="0">
            <a:spAutoFit/>
          </a:bodyPr>
          <a:lstStyle/>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메모앱이 아니다.</a:t>
            </a:r>
            <a:r>
              <a:rPr sz="1500" b="0">
                <a:solidFill>
                  <a:srgbClr val="6E6E73"/>
                </a:solidFill>
                <a:latin typeface="맑은 고딕"/>
                <a:ea typeface="맑은 고딕"/>
                <a:cs typeface="맑은 고딕"/>
              </a:rPr>
              <a:t>   내 생각이 값(자산)이 되는 환경.</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사고 — 던진다.</a:t>
            </a:r>
            <a:r>
              <a:rPr sz="1500" b="0">
                <a:solidFill>
                  <a:srgbClr val="6E6E73"/>
                </a:solidFill>
                <a:latin typeface="맑은 고딕"/>
                <a:ea typeface="맑은 고딕"/>
                <a:cs typeface="맑은 고딕"/>
              </a:rPr>
              <a:t>   텔레그램으로 아무 때나. 입력 마찰 0.</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지식 — 엮인다.</a:t>
            </a:r>
            <a:r>
              <a:rPr sz="1500" b="0">
                <a:solidFill>
                  <a:srgbClr val="6E6E73"/>
                </a:solidFill>
                <a:latin typeface="맑은 고딕"/>
                <a:ea typeface="맑은 고딕"/>
                <a:cs typeface="맑은 고딕"/>
              </a:rPr>
              <a:t>   밤마다 자동으로 연결·서술되어 위키로 승격.</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자산 — 발행된다.</a:t>
            </a:r>
            <a:r>
              <a:rPr sz="1500" b="0">
                <a:solidFill>
                  <a:srgbClr val="6E6E73"/>
                </a:solidFill>
                <a:latin typeface="맑은 고딕"/>
                <a:ea typeface="맑은 고딕"/>
                <a:cs typeface="맑은 고딕"/>
              </a:rPr>
              <a:t>   성숙한 생각이 아라미러 사이트의 글·기록이 된다.</a:t>
            </a:r>
          </a:p>
        </p:txBody>
      </p:sp>
      <p:cxnSp>
        <p:nvCxnSpPr>
          <p:cNvPr id="7" name="Connector 6"/>
          <p:cNvCxnSpPr/>
          <p:nvPr/>
        </p:nvCxnSpPr>
        <p:spPr>
          <a:xfrm>
            <a:off x="868680" y="6144768"/>
            <a:ext cx="10454335" cy="0"/>
          </a:xfrm>
          <a:prstGeom prst="bentConnector3">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6236208"/>
            <a:ext cx="7315200" cy="365760"/>
          </a:xfrm>
          <a:prstGeom prst="rect">
            <a:avLst/>
          </a:prstGeom>
          <a:noFill/>
        </p:spPr>
        <p:txBody>
          <a:bodyPr wrap="square" anchor="t" lIns="0" rIns="0" tIns="0" bIns="0">
            <a:spAutoFit/>
          </a:bodyPr>
          <a:lstStyle/>
          <a:p>
            <a:pPr algn="l">
              <a:lnSpc>
                <a:spcPct val="115000"/>
              </a:lnSpc>
            </a:pPr>
            <a:r>
              <a:rPr sz="950" b="1">
                <a:solidFill>
                  <a:srgbClr val="6E6E73"/>
                </a:solidFill>
                <a:latin typeface="맑은 고딕"/>
                <a:ea typeface="맑은 고딕"/>
                <a:cs typeface="맑은 고딕"/>
              </a:rPr>
              <a:t>Aramirror</a:t>
            </a:r>
            <a:r>
              <a:rPr sz="950" b="0">
                <a:solidFill>
                  <a:srgbClr val="6E6E73"/>
                </a:solidFill>
                <a:latin typeface="맑은 고딕"/>
                <a:ea typeface="맑은 고딕"/>
                <a:cs typeface="맑은 고딕"/>
              </a:rPr>
              <a:t>  —  AI는 거울이 된다</a:t>
            </a:r>
          </a:p>
        </p:txBody>
      </p:sp>
      <p:sp>
        <p:nvSpPr>
          <p:cNvPr id="9" name="TextBox 8"/>
          <p:cNvSpPr txBox="1"/>
          <p:nvPr/>
        </p:nvSpPr>
        <p:spPr>
          <a:xfrm>
            <a:off x="9494215" y="6236208"/>
            <a:ext cx="1828800" cy="365760"/>
          </a:xfrm>
          <a:prstGeom prst="rect">
            <a:avLst/>
          </a:prstGeom>
          <a:noFill/>
        </p:spPr>
        <p:txBody>
          <a:bodyPr wrap="square" anchor="t" lIns="0" rIns="0" tIns="0" bIns="0">
            <a:spAutoFit/>
          </a:bodyPr>
          <a:lstStyle/>
          <a:p>
            <a:pPr algn="r">
              <a:lnSpc>
                <a:spcPct val="115000"/>
              </a:lnSpc>
            </a:pPr>
            <a:r>
              <a:rPr sz="950" b="0">
                <a:solidFill>
                  <a:srgbClr val="6E6E73"/>
                </a:solidFill>
                <a:latin typeface="맑은 고딕"/>
                <a:ea typeface="맑은 고딕"/>
                <a:cs typeface="맑은 고딕"/>
              </a:rPr>
              <a:t>02 / 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58368"/>
            <a:ext cx="10058400" cy="365760"/>
          </a:xfrm>
          <a:prstGeom prst="rect">
            <a:avLst/>
          </a:prstGeom>
          <a:noFill/>
        </p:spPr>
        <p:txBody>
          <a:bodyPr wrap="square" anchor="t" lIns="0" rIns="0" tIns="0" bIns="0">
            <a:spAutoFit/>
          </a:bodyPr>
          <a:lstStyle/>
          <a:p>
            <a:pPr algn="l">
              <a:lnSpc>
                <a:spcPct val="115000"/>
              </a:lnSpc>
            </a:pPr>
            <a:r>
              <a:rPr sz="1200" b="1">
                <a:solidFill>
                  <a:srgbClr val="6E6E73"/>
                </a:solidFill>
                <a:latin typeface="맑은 고딕"/>
                <a:ea typeface="맑은 고딕"/>
                <a:cs typeface="맑은 고딕"/>
              </a:rPr>
              <a:t>02 · TODAY — 오늘 붙인 것</a:t>
            </a:r>
          </a:p>
        </p:txBody>
      </p:sp>
      <p:cxnSp>
        <p:nvCxnSpPr>
          <p:cNvPr id="4" name="Connector 3"/>
          <p:cNvCxnSpPr/>
          <p:nvPr/>
        </p:nvCxnSpPr>
        <p:spPr>
          <a:xfrm>
            <a:off x="868680" y="1024128"/>
            <a:ext cx="566928" cy="0"/>
          </a:xfrm>
          <a:prstGeom prst="bentConnector3">
            <a:avLst/>
          </a:prstGeom>
          <a:ln w="27940">
            <a:solidFill>
              <a:srgbClr val="1D1D1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68680" y="1417320"/>
            <a:ext cx="10424160" cy="914400"/>
          </a:xfrm>
          <a:prstGeom prst="rect">
            <a:avLst/>
          </a:prstGeom>
          <a:noFill/>
        </p:spPr>
        <p:txBody>
          <a:bodyPr wrap="square" anchor="t" lIns="0" rIns="0" tIns="0" bIns="0">
            <a:spAutoFit/>
          </a:bodyPr>
          <a:lstStyle/>
          <a:p>
            <a:pPr algn="l">
              <a:lnSpc>
                <a:spcPct val="115000"/>
              </a:lnSpc>
            </a:pPr>
            <a:r>
              <a:rPr sz="3800" b="1">
                <a:solidFill>
                  <a:srgbClr val="1D1D1F"/>
                </a:solidFill>
                <a:latin typeface="맑은 고딕"/>
                <a:ea typeface="맑은 고딕"/>
                <a:cs typeface="맑은 고딕"/>
              </a:rPr>
              <a:t>게시판과 관리자 CRUD</a:t>
            </a:r>
          </a:p>
        </p:txBody>
      </p:sp>
      <p:sp>
        <p:nvSpPr>
          <p:cNvPr id="6" name="TextBox 5"/>
          <p:cNvSpPr txBox="1"/>
          <p:nvPr/>
        </p:nvSpPr>
        <p:spPr>
          <a:xfrm>
            <a:off x="868680" y="2514600"/>
            <a:ext cx="10454335" cy="3291840"/>
          </a:xfrm>
          <a:prstGeom prst="rect">
            <a:avLst/>
          </a:prstGeom>
          <a:noFill/>
        </p:spPr>
        <p:txBody>
          <a:bodyPr wrap="square" lIns="0" rIns="0" tIns="0" bIns="0">
            <a:spAutoFit/>
          </a:bodyPr>
          <a:lstStyle/>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출발점 — 이기적스폰지 공유회.</a:t>
            </a:r>
            <a:r>
              <a:rPr sz="1500" b="0">
                <a:solidFill>
                  <a:srgbClr val="6E6E73"/>
                </a:solidFill>
                <a:latin typeface="맑은 고딕"/>
                <a:ea typeface="맑은 고딕"/>
                <a:cs typeface="맑은 고딕"/>
              </a:rPr>
              <a:t>   아젠다 ② 'KEY 연결 → CRUD 게시판'에서 시작.</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게시판 /board.</a:t>
            </a:r>
            <a:r>
              <a:rPr sz="1500" b="0">
                <a:solidFill>
                  <a:srgbClr val="6E6E73"/>
                </a:solidFill>
                <a:latin typeface="맑은 고딕"/>
                <a:ea typeface="맑은 고딕"/>
                <a:cs typeface="맑은 고딕"/>
              </a:rPr>
              <a:t>   카테고리 분류 · 글 읽기. 공개 페이지.</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관리자 /admin.</a:t>
            </a:r>
            <a:r>
              <a:rPr sz="1500" b="0">
                <a:solidFill>
                  <a:srgbClr val="6E6E73"/>
                </a:solidFill>
                <a:latin typeface="맑은 고딕"/>
                <a:ea typeface="맑은 고딕"/>
                <a:cs typeface="맑은 고딕"/>
              </a:rPr>
              <a:t>   글 생성·수정·삭제, 웹페이지 상위 관리, 백업 (암호 게이트).</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정적 사이트에서 실제 동작.</a:t>
            </a:r>
            <a:r>
              <a:rPr sz="1500" b="0">
                <a:solidFill>
                  <a:srgbClr val="6E6E73"/>
                </a:solidFill>
                <a:latin typeface="맑은 고딕"/>
                <a:ea typeface="맑은 고딕"/>
                <a:cs typeface="맑은 고딕"/>
              </a:rPr>
              <a:t>   지금은 브라우저 저장 → 서버 승격 준비 완료.</a:t>
            </a:r>
          </a:p>
        </p:txBody>
      </p:sp>
      <p:cxnSp>
        <p:nvCxnSpPr>
          <p:cNvPr id="7" name="Connector 6"/>
          <p:cNvCxnSpPr/>
          <p:nvPr/>
        </p:nvCxnSpPr>
        <p:spPr>
          <a:xfrm>
            <a:off x="868680" y="6144768"/>
            <a:ext cx="10454335" cy="0"/>
          </a:xfrm>
          <a:prstGeom prst="bentConnector3">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6236208"/>
            <a:ext cx="7315200" cy="365760"/>
          </a:xfrm>
          <a:prstGeom prst="rect">
            <a:avLst/>
          </a:prstGeom>
          <a:noFill/>
        </p:spPr>
        <p:txBody>
          <a:bodyPr wrap="square" anchor="t" lIns="0" rIns="0" tIns="0" bIns="0">
            <a:spAutoFit/>
          </a:bodyPr>
          <a:lstStyle/>
          <a:p>
            <a:pPr algn="l">
              <a:lnSpc>
                <a:spcPct val="115000"/>
              </a:lnSpc>
            </a:pPr>
            <a:r>
              <a:rPr sz="950" b="1">
                <a:solidFill>
                  <a:srgbClr val="6E6E73"/>
                </a:solidFill>
                <a:latin typeface="맑은 고딕"/>
                <a:ea typeface="맑은 고딕"/>
                <a:cs typeface="맑은 고딕"/>
              </a:rPr>
              <a:t>Aramirror</a:t>
            </a:r>
            <a:r>
              <a:rPr sz="950" b="0">
                <a:solidFill>
                  <a:srgbClr val="6E6E73"/>
                </a:solidFill>
                <a:latin typeface="맑은 고딕"/>
                <a:ea typeface="맑은 고딕"/>
                <a:cs typeface="맑은 고딕"/>
              </a:rPr>
              <a:t>  —  AI는 거울이 된다</a:t>
            </a:r>
          </a:p>
        </p:txBody>
      </p:sp>
      <p:sp>
        <p:nvSpPr>
          <p:cNvPr id="9" name="TextBox 8"/>
          <p:cNvSpPr txBox="1"/>
          <p:nvPr/>
        </p:nvSpPr>
        <p:spPr>
          <a:xfrm>
            <a:off x="9494215" y="6236208"/>
            <a:ext cx="1828800" cy="365760"/>
          </a:xfrm>
          <a:prstGeom prst="rect">
            <a:avLst/>
          </a:prstGeom>
          <a:noFill/>
        </p:spPr>
        <p:txBody>
          <a:bodyPr wrap="square" anchor="t" lIns="0" rIns="0" tIns="0" bIns="0">
            <a:spAutoFit/>
          </a:bodyPr>
          <a:lstStyle/>
          <a:p>
            <a:pPr algn="r">
              <a:lnSpc>
                <a:spcPct val="115000"/>
              </a:lnSpc>
            </a:pPr>
            <a:r>
              <a:rPr sz="950" b="0">
                <a:solidFill>
                  <a:srgbClr val="6E6E73"/>
                </a:solidFill>
                <a:latin typeface="맑은 고딕"/>
                <a:ea typeface="맑은 고딕"/>
                <a:cs typeface="맑은 고딕"/>
              </a:rPr>
              <a:t>03 / 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58368"/>
            <a:ext cx="10058400" cy="365760"/>
          </a:xfrm>
          <a:prstGeom prst="rect">
            <a:avLst/>
          </a:prstGeom>
          <a:noFill/>
        </p:spPr>
        <p:txBody>
          <a:bodyPr wrap="square" anchor="t" lIns="0" rIns="0" tIns="0" bIns="0">
            <a:spAutoFit/>
          </a:bodyPr>
          <a:lstStyle/>
          <a:p>
            <a:pPr algn="l">
              <a:lnSpc>
                <a:spcPct val="115000"/>
              </a:lnSpc>
            </a:pPr>
            <a:r>
              <a:rPr sz="1200" b="1">
                <a:solidFill>
                  <a:srgbClr val="6E6E73"/>
                </a:solidFill>
                <a:latin typeface="맑은 고딕"/>
                <a:ea typeface="맑은 고딕"/>
                <a:cs typeface="맑은 고딕"/>
              </a:rPr>
              <a:t>03 · HOW — 어떻게 만들었나</a:t>
            </a:r>
          </a:p>
        </p:txBody>
      </p:sp>
      <p:cxnSp>
        <p:nvCxnSpPr>
          <p:cNvPr id="4" name="Connector 3"/>
          <p:cNvCxnSpPr/>
          <p:nvPr/>
        </p:nvCxnSpPr>
        <p:spPr>
          <a:xfrm>
            <a:off x="868680" y="1024128"/>
            <a:ext cx="566928" cy="0"/>
          </a:xfrm>
          <a:prstGeom prst="bentConnector3">
            <a:avLst/>
          </a:prstGeom>
          <a:ln w="27940">
            <a:solidFill>
              <a:srgbClr val="1D1D1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68680" y="1417320"/>
            <a:ext cx="10424160" cy="914400"/>
          </a:xfrm>
          <a:prstGeom prst="rect">
            <a:avLst/>
          </a:prstGeom>
          <a:noFill/>
        </p:spPr>
        <p:txBody>
          <a:bodyPr wrap="square" anchor="t" lIns="0" rIns="0" tIns="0" bIns="0">
            <a:spAutoFit/>
          </a:bodyPr>
          <a:lstStyle/>
          <a:p>
            <a:pPr algn="l">
              <a:lnSpc>
                <a:spcPct val="115000"/>
              </a:lnSpc>
            </a:pPr>
            <a:r>
              <a:rPr sz="3400" b="1">
                <a:solidFill>
                  <a:srgbClr val="1D1D1F"/>
                </a:solidFill>
                <a:latin typeface="맑은 고딕"/>
                <a:ea typeface="맑은 고딕"/>
                <a:cs typeface="맑은 고딕"/>
              </a:rPr>
              <a:t>재활용이 자동화의 핵심 = 스킬</a:t>
            </a:r>
          </a:p>
        </p:txBody>
      </p:sp>
      <p:sp>
        <p:nvSpPr>
          <p:cNvPr id="6" name="TextBox 5"/>
          <p:cNvSpPr txBox="1"/>
          <p:nvPr/>
        </p:nvSpPr>
        <p:spPr>
          <a:xfrm>
            <a:off x="868680" y="2514600"/>
            <a:ext cx="10454335" cy="3291840"/>
          </a:xfrm>
          <a:prstGeom prst="rect">
            <a:avLst/>
          </a:prstGeom>
          <a:noFill/>
        </p:spPr>
        <p:txBody>
          <a:bodyPr wrap="square" lIns="0" rIns="0" tIns="0" bIns="0">
            <a:spAutoFit/>
          </a:bodyPr>
          <a:lstStyle/>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서브에이전트로 정리.</a:t>
            </a:r>
            <a:r>
              <a:rPr sz="1500" b="0">
                <a:solidFill>
                  <a:srgbClr val="6E6E73"/>
                </a:solidFill>
                <a:latin typeface="맑은 고딕"/>
                <a:ea typeface="맑은 고딕"/>
                <a:cs typeface="맑은 고딕"/>
              </a:rPr>
              <a:t>   공유회 스크린샷 32장을 병렬로 MECE하게 요약.</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홈페이지 톤 그대로.</a:t>
            </a:r>
            <a:r>
              <a:rPr sz="1500" b="0">
                <a:solidFill>
                  <a:srgbClr val="6E6E73"/>
                </a:solidFill>
                <a:latin typeface="맑은 고딕"/>
                <a:ea typeface="맑은 고딕"/>
                <a:cs typeface="맑은 고딕"/>
              </a:rPr>
              <a:t>   블랙&amp;화이트, 여백의 미. 잘 만든 디자인을 카피해 배운다.</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스크린샷 자가검수.</a:t>
            </a:r>
            <a:r>
              <a:rPr sz="1500" b="0">
                <a:solidFill>
                  <a:srgbClr val="6E6E73"/>
                </a:solidFill>
                <a:latin typeface="맑은 고딕"/>
                <a:ea typeface="맑은 고딕"/>
                <a:cs typeface="맑은 고딕"/>
              </a:rPr>
              <a:t>   실제 버그 2개 발견·수정 (빈 모달 · 재방문 TDZ 에러).</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안전 배포.</a:t>
            </a:r>
            <a:r>
              <a:rPr sz="1500" b="0">
                <a:solidFill>
                  <a:srgbClr val="6E6E73"/>
                </a:solidFill>
                <a:latin typeface="맑은 고딕"/>
                <a:ea typeface="맑은 고딕"/>
                <a:cs typeface="맑은 고딕"/>
              </a:rPr>
              <a:t>   gh-pages 배포하되 기존 앱(/me·/os)은 보존.</a:t>
            </a:r>
          </a:p>
        </p:txBody>
      </p:sp>
      <p:cxnSp>
        <p:nvCxnSpPr>
          <p:cNvPr id="7" name="Connector 6"/>
          <p:cNvCxnSpPr/>
          <p:nvPr/>
        </p:nvCxnSpPr>
        <p:spPr>
          <a:xfrm>
            <a:off x="868680" y="6144768"/>
            <a:ext cx="10454335" cy="0"/>
          </a:xfrm>
          <a:prstGeom prst="bentConnector3">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6236208"/>
            <a:ext cx="7315200" cy="365760"/>
          </a:xfrm>
          <a:prstGeom prst="rect">
            <a:avLst/>
          </a:prstGeom>
          <a:noFill/>
        </p:spPr>
        <p:txBody>
          <a:bodyPr wrap="square" anchor="t" lIns="0" rIns="0" tIns="0" bIns="0">
            <a:spAutoFit/>
          </a:bodyPr>
          <a:lstStyle/>
          <a:p>
            <a:pPr algn="l">
              <a:lnSpc>
                <a:spcPct val="115000"/>
              </a:lnSpc>
            </a:pPr>
            <a:r>
              <a:rPr sz="950" b="1">
                <a:solidFill>
                  <a:srgbClr val="6E6E73"/>
                </a:solidFill>
                <a:latin typeface="맑은 고딕"/>
                <a:ea typeface="맑은 고딕"/>
                <a:cs typeface="맑은 고딕"/>
              </a:rPr>
              <a:t>Aramirror</a:t>
            </a:r>
            <a:r>
              <a:rPr sz="950" b="0">
                <a:solidFill>
                  <a:srgbClr val="6E6E73"/>
                </a:solidFill>
                <a:latin typeface="맑은 고딕"/>
                <a:ea typeface="맑은 고딕"/>
                <a:cs typeface="맑은 고딕"/>
              </a:rPr>
              <a:t>  —  AI는 거울이 된다</a:t>
            </a:r>
          </a:p>
        </p:txBody>
      </p:sp>
      <p:sp>
        <p:nvSpPr>
          <p:cNvPr id="9" name="TextBox 8"/>
          <p:cNvSpPr txBox="1"/>
          <p:nvPr/>
        </p:nvSpPr>
        <p:spPr>
          <a:xfrm>
            <a:off x="9494215" y="6236208"/>
            <a:ext cx="1828800" cy="365760"/>
          </a:xfrm>
          <a:prstGeom prst="rect">
            <a:avLst/>
          </a:prstGeom>
          <a:noFill/>
        </p:spPr>
        <p:txBody>
          <a:bodyPr wrap="square" anchor="t" lIns="0" rIns="0" tIns="0" bIns="0">
            <a:spAutoFit/>
          </a:bodyPr>
          <a:lstStyle/>
          <a:p>
            <a:pPr algn="r">
              <a:lnSpc>
                <a:spcPct val="115000"/>
              </a:lnSpc>
            </a:pPr>
            <a:r>
              <a:rPr sz="950" b="0">
                <a:solidFill>
                  <a:srgbClr val="6E6E73"/>
                </a:solidFill>
                <a:latin typeface="맑은 고딕"/>
                <a:ea typeface="맑은 고딕"/>
                <a:cs typeface="맑은 고딕"/>
              </a:rPr>
              <a:t>04 /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58368"/>
            <a:ext cx="10058400" cy="365760"/>
          </a:xfrm>
          <a:prstGeom prst="rect">
            <a:avLst/>
          </a:prstGeom>
          <a:noFill/>
        </p:spPr>
        <p:txBody>
          <a:bodyPr wrap="square" anchor="t" lIns="0" rIns="0" tIns="0" bIns="0">
            <a:spAutoFit/>
          </a:bodyPr>
          <a:lstStyle/>
          <a:p>
            <a:pPr algn="l">
              <a:lnSpc>
                <a:spcPct val="115000"/>
              </a:lnSpc>
            </a:pPr>
            <a:r>
              <a:rPr sz="1200" b="1">
                <a:solidFill>
                  <a:srgbClr val="6E6E73"/>
                </a:solidFill>
                <a:latin typeface="맑은 고딕"/>
                <a:ea typeface="맑은 고딕"/>
                <a:cs typeface="맑은 고딕"/>
              </a:rPr>
              <a:t>04 · LIVE &amp; NEXT — 결과와 다음</a:t>
            </a:r>
          </a:p>
        </p:txBody>
      </p:sp>
      <p:cxnSp>
        <p:nvCxnSpPr>
          <p:cNvPr id="4" name="Connector 3"/>
          <p:cNvCxnSpPr/>
          <p:nvPr/>
        </p:nvCxnSpPr>
        <p:spPr>
          <a:xfrm>
            <a:off x="868680" y="1024128"/>
            <a:ext cx="566928" cy="0"/>
          </a:xfrm>
          <a:prstGeom prst="bentConnector3">
            <a:avLst/>
          </a:prstGeom>
          <a:ln w="27940">
            <a:solidFill>
              <a:srgbClr val="1D1D1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68680" y="1417320"/>
            <a:ext cx="10424160" cy="914400"/>
          </a:xfrm>
          <a:prstGeom prst="rect">
            <a:avLst/>
          </a:prstGeom>
          <a:noFill/>
        </p:spPr>
        <p:txBody>
          <a:bodyPr wrap="square" anchor="t" lIns="0" rIns="0" tIns="0" bIns="0">
            <a:spAutoFit/>
          </a:bodyPr>
          <a:lstStyle/>
          <a:p>
            <a:pPr algn="l">
              <a:lnSpc>
                <a:spcPct val="115000"/>
              </a:lnSpc>
            </a:pPr>
            <a:r>
              <a:rPr sz="3600" b="1">
                <a:solidFill>
                  <a:srgbClr val="1D1D1F"/>
                </a:solidFill>
                <a:latin typeface="맑은 고딕"/>
                <a:ea typeface="맑은 고딕"/>
                <a:cs typeface="맑은 고딕"/>
              </a:rPr>
              <a:t>이미 라이브, 다음은 진짜 서버</a:t>
            </a:r>
          </a:p>
        </p:txBody>
      </p:sp>
      <p:sp>
        <p:nvSpPr>
          <p:cNvPr id="6" name="TextBox 5"/>
          <p:cNvSpPr txBox="1"/>
          <p:nvPr/>
        </p:nvSpPr>
        <p:spPr>
          <a:xfrm>
            <a:off x="868680" y="2468880"/>
            <a:ext cx="10454335" cy="3291840"/>
          </a:xfrm>
          <a:prstGeom prst="rect">
            <a:avLst/>
          </a:prstGeom>
          <a:noFill/>
        </p:spPr>
        <p:txBody>
          <a:bodyPr wrap="square" lIns="0" rIns="0" tIns="0" bIns="0">
            <a:spAutoFit/>
          </a:bodyPr>
          <a:lstStyle/>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라이브 배포 완료.</a:t>
            </a:r>
            <a:r>
              <a:rPr sz="1500" b="0">
                <a:solidFill>
                  <a:srgbClr val="6E6E73"/>
                </a:solidFill>
                <a:latin typeface="맑은 고딕"/>
                <a:ea typeface="맑은 고딕"/>
                <a:cs typeface="맑은 고딕"/>
              </a:rPr>
              <a:t>   hyun-arch.github.io/board · /admin</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버그 2건 수정까지 반영.</a:t>
            </a:r>
            <a:r>
              <a:rPr sz="1500" b="0">
                <a:solidFill>
                  <a:srgbClr val="6E6E73"/>
                </a:solidFill>
                <a:latin typeface="맑은 고딕"/>
                <a:ea typeface="맑은 고딕"/>
                <a:cs typeface="맑은 고딕"/>
              </a:rPr>
              <a:t>   커밋·배포·재검증 완료.</a:t>
            </a:r>
          </a:p>
          <a:p>
            <a:pPr>
              <a:lnSpc>
                <a:spcPct val="112000"/>
              </a:lnSpc>
              <a:spcAft>
                <a:spcPts val="1400"/>
              </a:spcAft>
            </a:pPr>
            <a:r>
              <a:rPr sz="1700" b="1">
                <a:solidFill>
                  <a:srgbClr val="1D1D1F"/>
                </a:solidFill>
                <a:latin typeface="맑은 고딕"/>
                <a:ea typeface="맑은 고딕"/>
                <a:cs typeface="맑은 고딕"/>
              </a:rPr>
              <a:t>—  </a:t>
            </a:r>
            <a:r>
              <a:rPr sz="1700" b="1">
                <a:solidFill>
                  <a:srgbClr val="1D1D1F"/>
                </a:solidFill>
                <a:latin typeface="맑은 고딕"/>
                <a:ea typeface="맑은 고딕"/>
                <a:cs typeface="맑은 고딕"/>
              </a:rPr>
              <a:t>다음 — 진짜 서버 CRUD.</a:t>
            </a:r>
            <a:r>
              <a:rPr sz="1500" b="0">
                <a:solidFill>
                  <a:srgbClr val="6E6E73"/>
                </a:solidFill>
                <a:latin typeface="맑은 고딕"/>
                <a:ea typeface="맑은 고딕"/>
                <a:cs typeface="맑은 고딕"/>
              </a:rPr>
              <a:t>   Supabase/Vercel 연결, 키만 꽂으면 다중 기기 공유.</a:t>
            </a:r>
          </a:p>
        </p:txBody>
      </p:sp>
      <p:cxnSp>
        <p:nvCxnSpPr>
          <p:cNvPr id="7" name="Connector 6"/>
          <p:cNvCxnSpPr/>
          <p:nvPr/>
        </p:nvCxnSpPr>
        <p:spPr>
          <a:xfrm>
            <a:off x="868680" y="4892040"/>
            <a:ext cx="10454335" cy="0"/>
          </a:xfrm>
          <a:prstGeom prst="bentConnector3">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5074920"/>
            <a:ext cx="10424160" cy="822960"/>
          </a:xfrm>
          <a:prstGeom prst="rect">
            <a:avLst/>
          </a:prstGeom>
          <a:noFill/>
        </p:spPr>
        <p:txBody>
          <a:bodyPr wrap="square" anchor="t" lIns="0" rIns="0" tIns="0" bIns="0">
            <a:spAutoFit/>
          </a:bodyPr>
          <a:lstStyle/>
          <a:p>
            <a:pPr algn="l">
              <a:lnSpc>
                <a:spcPct val="115000"/>
              </a:lnSpc>
            </a:pPr>
            <a:r>
              <a:rPr sz="2400" b="1">
                <a:solidFill>
                  <a:srgbClr val="1D1D1F"/>
                </a:solidFill>
                <a:latin typeface="맑은 고딕"/>
                <a:ea typeface="맑은 고딕"/>
                <a:cs typeface="맑은 고딕"/>
              </a:rPr>
              <a:t>“기록이 아니라 </a:t>
            </a:r>
            <a:r>
              <a:rPr sz="2400" b="1">
                <a:solidFill>
                  <a:srgbClr val="1D1D1F"/>
                </a:solidFill>
                <a:latin typeface="맑은 고딕"/>
                <a:ea typeface="맑은 고딕"/>
                <a:cs typeface="맑은 고딕"/>
              </a:rPr>
              <a:t>‘승격’</a:t>
            </a:r>
            <a:r>
              <a:rPr sz="2400" b="1">
                <a:solidFill>
                  <a:srgbClr val="1D1D1F"/>
                </a:solidFill>
                <a:latin typeface="맑은 고딕"/>
                <a:ea typeface="맑은 고딕"/>
                <a:cs typeface="맑은 고딕"/>
              </a:rPr>
              <a:t>이 핵심이다.”</a:t>
            </a:r>
          </a:p>
        </p:txBody>
      </p:sp>
      <p:cxnSp>
        <p:nvCxnSpPr>
          <p:cNvPr id="9" name="Connector 8"/>
          <p:cNvCxnSpPr/>
          <p:nvPr/>
        </p:nvCxnSpPr>
        <p:spPr>
          <a:xfrm>
            <a:off x="868680" y="6144768"/>
            <a:ext cx="10454335" cy="0"/>
          </a:xfrm>
          <a:prstGeom prst="bentConnector3">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68680" y="6236208"/>
            <a:ext cx="7315200" cy="365760"/>
          </a:xfrm>
          <a:prstGeom prst="rect">
            <a:avLst/>
          </a:prstGeom>
          <a:noFill/>
        </p:spPr>
        <p:txBody>
          <a:bodyPr wrap="square" anchor="t" lIns="0" rIns="0" tIns="0" bIns="0">
            <a:spAutoFit/>
          </a:bodyPr>
          <a:lstStyle/>
          <a:p>
            <a:pPr algn="l">
              <a:lnSpc>
                <a:spcPct val="115000"/>
              </a:lnSpc>
            </a:pPr>
            <a:r>
              <a:rPr sz="950" b="1">
                <a:solidFill>
                  <a:srgbClr val="6E6E73"/>
                </a:solidFill>
                <a:latin typeface="맑은 고딕"/>
                <a:ea typeface="맑은 고딕"/>
                <a:cs typeface="맑은 고딕"/>
              </a:rPr>
              <a:t>Aramirror</a:t>
            </a:r>
            <a:r>
              <a:rPr sz="950" b="0">
                <a:solidFill>
                  <a:srgbClr val="6E6E73"/>
                </a:solidFill>
                <a:latin typeface="맑은 고딕"/>
                <a:ea typeface="맑은 고딕"/>
                <a:cs typeface="맑은 고딕"/>
              </a:rPr>
              <a:t>  —  AI는 거울이 된다</a:t>
            </a:r>
          </a:p>
        </p:txBody>
      </p:sp>
      <p:sp>
        <p:nvSpPr>
          <p:cNvPr id="11" name="TextBox 10"/>
          <p:cNvSpPr txBox="1"/>
          <p:nvPr/>
        </p:nvSpPr>
        <p:spPr>
          <a:xfrm>
            <a:off x="9494215" y="6236208"/>
            <a:ext cx="1828800" cy="365760"/>
          </a:xfrm>
          <a:prstGeom prst="rect">
            <a:avLst/>
          </a:prstGeom>
          <a:noFill/>
        </p:spPr>
        <p:txBody>
          <a:bodyPr wrap="square" anchor="t" lIns="0" rIns="0" tIns="0" bIns="0">
            <a:spAutoFit/>
          </a:bodyPr>
          <a:lstStyle/>
          <a:p>
            <a:pPr algn="r">
              <a:lnSpc>
                <a:spcPct val="115000"/>
              </a:lnSpc>
            </a:pPr>
            <a:r>
              <a:rPr sz="950" b="0">
                <a:solidFill>
                  <a:srgbClr val="6E6E73"/>
                </a:solidFill>
                <a:latin typeface="맑은 고딕"/>
                <a:ea typeface="맑은 고딕"/>
                <a:cs typeface="맑은 고딕"/>
              </a:rPr>
              <a:t>05 /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