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박상현입니다. 오늘 발표는 제가 만든 개인 OS '아라미러' 이야기입니다. 남의 사례를 소개하는 게 아니라, 제가 왜 이걸 시작했고, 어떻게 기획했고, 만들면서 무엇에 부딪혔는지 — 온전히 제 경험을 5분 안에 말씀드리겠습니다. 핵심 문장은 하나예요. 'AI는 나를 대신하지 않는다, 거울이 된다.'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시작은 거창한 아이디어가 아니라 제 한계였습니다. 미국 출장에서 막 돌아오고 제주 주말도 제대로 못 쉰 어느 피곤한 밤, 머릿속이 NYU 발표며 스폰지클럽이며 풀어야 할 일들로 가득 차서 한계가 느껴졌어요. 그때 깨달았습니다. 한계를 넘는 건 더 버티는 게 아니라 머릿속을 비우는 거라고. 정리 안 된 채 떠다니는 생각이 제일 무겁더라고요. 노션도 보드도 태그도 며칠을 못 갔습니다. 정리하는 데 제 손이 들어가니까요. 그래서 원칙을 아예 뒤집기로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제가 뒤집은 원칙은 세 가지입니다. 첫째, 입력 마찰을 0으로. 저는 그냥 텔레그램에 말만 던지고, 그날 저널에 자동으로 쌓이게 했습니다. 둘째, 정리는 100% AI가. 분류하고 연결하고 서술하는 건 전부 AI가 하고, 밤마다 지난 기록과 자동으로 엮여 지식이 됩니다. 셋째, 소유권은 저에게. AI는 편집자일 뿐이고 생각은 제 것입니다. 그리고 제가 특별히 세운 원칙이 하나 있어요. The Wall, 생각의 벽입니다. 제 생각(자산)과 남에게서 온 것(연료)을 절대 섞지 않고, 연료엔 반드시 출처를 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만드는 과정은 순탄하지 않았습니다. 제가 직접 부딪힌 벽들이에요. 가장 먼저 'AI가 나를 대신하는 거 아닌가' 하는 불안이 왔습니다. 이건 한 문장으로 매듭지었어요 — 대신하지 않는다, 거울이 된다. 그 다음엔 봇이 자꾸 죽었습니다. 일반 창이나 headless로는 즉시 꺼져서, winpty로 감싸고 자동시작을 걸어 24시간 살렸습니다. 배포하니 모바일과 PC에서 디자인이 깨졌고, 흑백 미니멀로 전면 개편한 뒤 스크린샷으로 직접 검수하고 다시 배포했습니다. 이 부딪히고 고치는 과정 자체가, 이 OS를 진짜 제 것으로 만든 순간이었습니다.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여기서부터는 배움 이야기입니다. 이기적스폰지 공유회에서 다섯 가지를 배웠어요. ①반복을 스킬로 굳히기, ②KEY를 연결해 CRUD 게시판 만들기, ③딥인터뷰로 내 재료 찾기, ④씽킹노트로 배운 걸 붙잡기, ⑤서브에이전트로 큰 일을 쪼개 병렬로. 관통하는 한 문장은 — 재활용이 자동화의 핵심이고 그게 스킬이다, 그리고 스킬과 서브에이전트는 본질적으로 한 몸이라는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중요한 건 듣고 끝이 아니었다는 거예요. 저는 그날 바로 세 개를 제 것에 적용했습니다. ②번 그대로, 게시판과 관리자 콘솔을 그날 만들었습니다. 정적 사이트라 지금은 브라우저 저장으로 돌지만 KEY만 꽂으면 실서버로 승격됩니다. ⑤번 그대로, 공유회 스크린샷 32장을 서브에이전트로 병렬 정리했어요. 배운 방법을 문서화하는 바로 그 자리에서 써먹은 겁니다. 그리고 스크린샷 자가검수로 실제 버그 2개를 잡아 고쳤고, 지금 라이브로 돌아갑니다.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정리하겠습니다. 아라미러는 이미 라이브고, 매일 아침 7시 텔레그램 보고로 OS가 실제로 돌고 있습니다. 제가 배운 두 문장으로 마무리할게요. 첫째, 기록이 아니라 '승격'이 핵심이다 — 던진 생각이 자산이 될 때 AI는 저를 비추는 거울이 됩니다. 둘째, 강의를 들었다가 아니라 '그날 바로 하나 만들었다'가 남는다. 배움도 그날 재활용해야 자산이 됩니다.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658368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6E6E73"/>
                </a:solidFill>
                <a:latin typeface="Pretendard"/>
              </a:rPr>
              <a:t>ARAMIRROR · 내가 만든 이야기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877824" y="1024128"/>
            <a:ext cx="566928" cy="38100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7824" y="2148840"/>
            <a:ext cx="10436047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4400" b="1">
                <a:solidFill>
                  <a:srgbClr val="1D1D1F"/>
                </a:solidFill>
                <a:latin typeface="Pretendard"/>
              </a:rPr>
              <a:t>AI는 나를 대신하지 않는다 —</a:t>
            </a:r>
          </a:p>
          <a:p>
            <a:pPr algn="l">
              <a:lnSpc>
                <a:spcPct val="104000"/>
              </a:lnSpc>
            </a:pPr>
            <a:r>
              <a:rPr sz="4400" b="1">
                <a:solidFill>
                  <a:srgbClr val="1D1D1F"/>
                </a:solidFill>
                <a:latin typeface="Pretendard"/>
              </a:rPr>
              <a:t>거울이 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4160520"/>
            <a:ext cx="1043604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24245"/>
                </a:solidFill>
                <a:latin typeface="Pretendard"/>
              </a:rPr>
              <a:t>내가 직접 기획하고, 부딪히고, 만든 나만의 OS — 그리고 배운 걸 그날 써먹은 이야기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4709160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E6E73"/>
                </a:solidFill>
                <a:latin typeface="Pretendard"/>
              </a:rPr>
              <a:t>2026.07.04 · 박상현(아람) · 스폰지클럽 2기 5조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7824" y="6263640"/>
            <a:ext cx="10436047" cy="0"/>
          </a:xfrm>
          <a:prstGeom prst="bentConnector3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7824" y="6355080"/>
            <a:ext cx="1043604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6E6E73"/>
                </a:solidFill>
                <a:latin typeface="Pretendard"/>
              </a:rPr>
              <a:t>Aramirror</a:t>
            </a:r>
            <a:r>
              <a:rPr sz="900" b="0">
                <a:solidFill>
                  <a:srgbClr val="6E6E73"/>
                </a:solidFill>
                <a:latin typeface="Pretendard"/>
              </a:rPr>
              <a:t>  — AI는 거울이 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6355080"/>
            <a:ext cx="1043604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E6E73"/>
                </a:solidFill>
                <a:latin typeface="Pretendard"/>
              </a:rP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658368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6E6E73"/>
                </a:solidFill>
                <a:latin typeface="Pretendard"/>
              </a:rPr>
              <a:t>01 · WHY — 왜 시작했나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77824" y="1024128"/>
            <a:ext cx="566928" cy="38100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7824" y="1234440"/>
            <a:ext cx="104360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D1D1F"/>
                </a:solidFill>
                <a:latin typeface="Pretendard"/>
              </a:rPr>
              <a:t>내 한계에서 시작됐다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286000"/>
            <a:ext cx="10436047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  <a:spcAft>
                <a:spcPts val="14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—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피곤한 밤이었다.  </a:t>
            </a:r>
            <a:r>
              <a:rPr sz="1600">
                <a:solidFill>
                  <a:srgbClr val="6E6E73"/>
                </a:solidFill>
                <a:latin typeface="Pretendard"/>
              </a:rPr>
              <a:t>미국 출장에서 막 돌아와, 제주 주말도 못 쉰 날. 머릿속엔 NYU 발표·스폰지클럽·풀 일들이 가득했다.</a:t>
            </a:r>
          </a:p>
          <a:p>
            <a:pPr>
              <a:lnSpc>
                <a:spcPct val="124000"/>
              </a:lnSpc>
              <a:spcAft>
                <a:spcPts val="14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—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깨달음.  </a:t>
            </a:r>
            <a:r>
              <a:rPr sz="1600">
                <a:solidFill>
                  <a:srgbClr val="6E6E73"/>
                </a:solidFill>
                <a:latin typeface="Pretendard"/>
              </a:rPr>
              <a:t>한계를 넘는 건 '더 버티기'가 아니라 '머릿속을 비우는 것'. 정리 안 된 생각이 제일 무겁다.</a:t>
            </a:r>
          </a:p>
          <a:p>
            <a:pPr>
              <a:lnSpc>
                <a:spcPct val="124000"/>
              </a:lnSpc>
              <a:spcAft>
                <a:spcPts val="14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—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다 며칠 못 갔다.  </a:t>
            </a:r>
            <a:r>
              <a:rPr sz="1600">
                <a:solidFill>
                  <a:srgbClr val="6E6E73"/>
                </a:solidFill>
                <a:latin typeface="Pretendard"/>
              </a:rPr>
              <a:t>노션·보드·태그… 정리에 내 손이 들어가니까. 그래서 원칙을 뒤집기로 했다.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6263640"/>
            <a:ext cx="10436047" cy="0"/>
          </a:xfrm>
          <a:prstGeom prst="bentConnector3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6355080"/>
            <a:ext cx="1043604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6E6E73"/>
                </a:solidFill>
                <a:latin typeface="Pretendard"/>
              </a:rPr>
              <a:t>Aramirror</a:t>
            </a:r>
            <a:r>
              <a:rPr sz="900" b="0">
                <a:solidFill>
                  <a:srgbClr val="6E6E73"/>
                </a:solidFill>
                <a:latin typeface="Pretendard"/>
              </a:rPr>
              <a:t>  — AI는 거울이 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6355080"/>
            <a:ext cx="1043604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E6E73"/>
                </a:solidFill>
                <a:latin typeface="Pretendard"/>
              </a:rP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658368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6E6E73"/>
                </a:solidFill>
                <a:latin typeface="Pretendard"/>
              </a:rPr>
              <a:t>02 · WHAT — 내가 뒤집은 원칙</a:t>
            </a:r>
          </a:p>
        </p:txBody>
      </p:sp>
      <p:sp>
        <p:nvSpPr>
          <p:cNvPr id="3" name="Rectangle 2"/>
          <p:cNvSpPr/>
          <p:nvPr/>
        </p:nvSpPr>
        <p:spPr>
          <a:xfrm>
            <a:off x="877824" y="1024128"/>
            <a:ext cx="566928" cy="38100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7824" y="1234440"/>
            <a:ext cx="104360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D1D1F"/>
                </a:solidFill>
                <a:latin typeface="Pretendard"/>
              </a:rPr>
              <a:t>입력은 0, 정리는 AI, 소유는 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286000"/>
            <a:ext cx="10436047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  <a:spcAft>
                <a:spcPts val="14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—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입력 마찰 0.  </a:t>
            </a:r>
            <a:r>
              <a:rPr sz="1600">
                <a:solidFill>
                  <a:srgbClr val="6E6E73"/>
                </a:solidFill>
                <a:latin typeface="Pretendard"/>
              </a:rPr>
              <a:t>나는 텔레그램에 그냥 말만 던진다. 그날 저널에 자동으로 쌓인다.</a:t>
            </a:r>
          </a:p>
          <a:p>
            <a:pPr>
              <a:lnSpc>
                <a:spcPct val="124000"/>
              </a:lnSpc>
              <a:spcAft>
                <a:spcPts val="14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—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정리는 100% AI.  </a:t>
            </a:r>
            <a:r>
              <a:rPr sz="1600">
                <a:solidFill>
                  <a:srgbClr val="6E6E73"/>
                </a:solidFill>
                <a:latin typeface="Pretendard"/>
              </a:rPr>
              <a:t>분류·연결·서술은 전부 AI. 밤마다 지난 기록과 자동으로 엮여 지식이 된다.</a:t>
            </a:r>
          </a:p>
          <a:p>
            <a:pPr>
              <a:lnSpc>
                <a:spcPct val="124000"/>
              </a:lnSpc>
              <a:spcAft>
                <a:spcPts val="14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—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소유권은 나에게.  </a:t>
            </a:r>
            <a:r>
              <a:rPr sz="1600">
                <a:solidFill>
                  <a:srgbClr val="6E6E73"/>
                </a:solidFill>
                <a:latin typeface="Pretendard"/>
              </a:rPr>
              <a:t>AI는 편집자일 뿐, 내 생각은 내 것. 성숙하면 사이트의 글·기록으로 발행된다.</a:t>
            </a:r>
          </a:p>
          <a:p>
            <a:pPr>
              <a:lnSpc>
                <a:spcPct val="124000"/>
              </a:lnSpc>
              <a:spcAft>
                <a:spcPts val="14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—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The Wall — 생각의 벽.  </a:t>
            </a:r>
            <a:r>
              <a:rPr sz="1600">
                <a:solidFill>
                  <a:srgbClr val="6E6E73"/>
                </a:solidFill>
                <a:latin typeface="Pretendard"/>
              </a:rPr>
              <a:t>내가 세운 원칙. 내 생각(자산)과 남에서 온 것(연료)을 절대 섞지 않는다.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6263640"/>
            <a:ext cx="10436047" cy="0"/>
          </a:xfrm>
          <a:prstGeom prst="bentConnector3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6355080"/>
            <a:ext cx="1043604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6E6E73"/>
                </a:solidFill>
                <a:latin typeface="Pretendard"/>
              </a:rPr>
              <a:t>Aramirror</a:t>
            </a:r>
            <a:r>
              <a:rPr sz="900" b="0">
                <a:solidFill>
                  <a:srgbClr val="6E6E73"/>
                </a:solidFill>
                <a:latin typeface="Pretendard"/>
              </a:rPr>
              <a:t>  — AI는 거울이 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6355080"/>
            <a:ext cx="1043604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E6E73"/>
                </a:solidFill>
                <a:latin typeface="Pretendard"/>
              </a:rP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658368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6E6E73"/>
                </a:solidFill>
                <a:latin typeface="Pretendard"/>
              </a:rPr>
              <a:t>03 · HOW — 만들며 부딪힌 벽</a:t>
            </a:r>
          </a:p>
        </p:txBody>
      </p:sp>
      <p:sp>
        <p:nvSpPr>
          <p:cNvPr id="3" name="Rectangle 2"/>
          <p:cNvSpPr/>
          <p:nvPr/>
        </p:nvSpPr>
        <p:spPr>
          <a:xfrm>
            <a:off x="877824" y="1024128"/>
            <a:ext cx="566928" cy="38100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7824" y="1234440"/>
            <a:ext cx="104360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D1D1F"/>
                </a:solidFill>
                <a:latin typeface="Pretendard"/>
              </a:rPr>
              <a:t>직접 부딪히고, 직접 고쳤다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286000"/>
            <a:ext cx="10436047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  <a:spcAft>
                <a:spcPts val="14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—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"AI가 나를 대신하나?" 불안.  </a:t>
            </a:r>
            <a:r>
              <a:rPr sz="1600">
                <a:solidFill>
                  <a:srgbClr val="6E6E73"/>
                </a:solidFill>
                <a:latin typeface="Pretendard"/>
              </a:rPr>
              <a:t>가장 먼저 부딪힌 벽. 한 문장으로 매듭지었다 — 대신하지 않는다, 거울이 된다.</a:t>
            </a:r>
          </a:p>
          <a:p>
            <a:pPr>
              <a:lnSpc>
                <a:spcPct val="124000"/>
              </a:lnSpc>
              <a:spcAft>
                <a:spcPts val="14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—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봇이 자꾸 죽었다.  </a:t>
            </a:r>
            <a:r>
              <a:rPr sz="1600">
                <a:solidFill>
                  <a:srgbClr val="6E6E73"/>
                </a:solidFill>
                <a:latin typeface="Pretendard"/>
              </a:rPr>
              <a:t>일반 창·headless로는 즉시 꺼짐. winpty로 감싸고 자동시작 걸어 24시간 살렸다.</a:t>
            </a:r>
          </a:p>
          <a:p>
            <a:pPr>
              <a:lnSpc>
                <a:spcPct val="124000"/>
              </a:lnSpc>
              <a:spcAft>
                <a:spcPts val="14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—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배포가 깨졌다.  </a:t>
            </a:r>
            <a:r>
              <a:rPr sz="1600">
                <a:solidFill>
                  <a:srgbClr val="6E6E73"/>
                </a:solidFill>
                <a:latin typeface="Pretendard"/>
              </a:rPr>
              <a:t>모바일·PC에서 디자인이 무너짐. 흑백 미니멀로 전면 개편, 스크린샷 자가검수 후 재배포.</a:t>
            </a:r>
          </a:p>
          <a:p>
            <a:pPr>
              <a:lnSpc>
                <a:spcPct val="124000"/>
              </a:lnSpc>
              <a:spcAft>
                <a:spcPts val="14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—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손으로 다 겪었다.  </a:t>
            </a:r>
            <a:r>
              <a:rPr sz="1600">
                <a:solidFill>
                  <a:srgbClr val="6E6E73"/>
                </a:solidFill>
                <a:latin typeface="Pretendard"/>
              </a:rPr>
              <a:t>부딪히고 고치는 그 과정이, 이걸 진짜 '내 것'으로 만든 순간이었다.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6263640"/>
            <a:ext cx="10436047" cy="0"/>
          </a:xfrm>
          <a:prstGeom prst="bentConnector3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6355080"/>
            <a:ext cx="1043604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6E6E73"/>
                </a:solidFill>
                <a:latin typeface="Pretendard"/>
              </a:rPr>
              <a:t>Aramirror</a:t>
            </a:r>
            <a:r>
              <a:rPr sz="900" b="0">
                <a:solidFill>
                  <a:srgbClr val="6E6E73"/>
                </a:solidFill>
                <a:latin typeface="Pretendard"/>
              </a:rPr>
              <a:t>  — AI는 거울이 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6355080"/>
            <a:ext cx="1043604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E6E73"/>
                </a:solidFill>
                <a:latin typeface="Pretendard"/>
              </a:rPr>
              <a:t>04 /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658368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6E6E73"/>
                </a:solidFill>
                <a:latin typeface="Pretendard"/>
              </a:rPr>
              <a:t>04 · LEARN — 배움을 흘리지 않는다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77824" y="1024128"/>
            <a:ext cx="566928" cy="38100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7824" y="1234440"/>
            <a:ext cx="104360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D1D1F"/>
                </a:solidFill>
                <a:latin typeface="Pretendard"/>
              </a:rPr>
              <a:t>이기적스폰지 공유회, 5가지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194560"/>
            <a:ext cx="10436047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①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기본 스킬  </a:t>
            </a:r>
            <a:r>
              <a:rPr sz="1600">
                <a:solidFill>
                  <a:srgbClr val="6E6E73"/>
                </a:solidFill>
                <a:latin typeface="Pretendard"/>
              </a:rPr>
              <a:t>반복하는 일을 skill.md로 굳혀 자동 발동.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②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KEY 연결 → CRUD 게시판  </a:t>
            </a:r>
            <a:r>
              <a:rPr sz="1600">
                <a:solidFill>
                  <a:srgbClr val="6E6E73"/>
                </a:solidFill>
                <a:latin typeface="Pretendard"/>
              </a:rPr>
              <a:t>.env 하나로 GitHub·Supabase·Vercel 배선.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③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딥인터뷰  </a:t>
            </a:r>
            <a:r>
              <a:rPr sz="1600">
                <a:solidFill>
                  <a:srgbClr val="6E6E73"/>
                </a:solidFill>
                <a:latin typeface="Pretendard"/>
              </a:rPr>
              <a:t>"뭘 만들까"가 아니라 "뭐가 불편한가"부터.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④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씽킹노트  </a:t>
            </a:r>
            <a:r>
              <a:rPr sz="1600">
                <a:solidFill>
                  <a:srgbClr val="6E6E73"/>
                </a:solidFill>
                <a:latin typeface="Pretendard"/>
              </a:rPr>
              <a:t>배운 걸 흘리지 말고 노트로 붙잡아 쌓기.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⑤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서브에이전트·동적 워크플로우  </a:t>
            </a:r>
            <a:r>
              <a:rPr sz="1600">
                <a:solidFill>
                  <a:srgbClr val="6E6E73"/>
                </a:solidFill>
                <a:latin typeface="Pretendard"/>
              </a:rPr>
              <a:t>큰 일은 쪼개서 병렬로.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5257800"/>
            <a:ext cx="10436047" cy="658368"/>
          </a:xfrm>
          <a:prstGeom prst="rect">
            <a:avLst/>
          </a:prstGeom>
          <a:solidFill>
            <a:srgbClr val="F6F6F8"/>
          </a:solidFill>
          <a:ln w="9525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1D1D1F"/>
                </a:solidFill>
                <a:latin typeface="Pretendard"/>
              </a:rPr>
              <a:t>💡 한 문장: </a:t>
            </a:r>
            <a:r>
              <a:rPr sz="1500">
                <a:solidFill>
                  <a:srgbClr val="424245"/>
                </a:solidFill>
                <a:latin typeface="Pretendard"/>
              </a:rPr>
              <a:t>재활용이 자동화의 핵심 = 스킬. 스킬과 서브에이전트는 본질적으로 한 몸이다.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7824" y="6263640"/>
            <a:ext cx="10436047" cy="0"/>
          </a:xfrm>
          <a:prstGeom prst="bentConnector3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7824" y="6355080"/>
            <a:ext cx="1043604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6E6E73"/>
                </a:solidFill>
                <a:latin typeface="Pretendard"/>
              </a:rPr>
              <a:t>Aramirror</a:t>
            </a:r>
            <a:r>
              <a:rPr sz="900" b="0">
                <a:solidFill>
                  <a:srgbClr val="6E6E73"/>
                </a:solidFill>
                <a:latin typeface="Pretendard"/>
              </a:rPr>
              <a:t>  — AI는 거울이 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6355080"/>
            <a:ext cx="1043604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E6E73"/>
                </a:solidFill>
                <a:latin typeface="Pretendard"/>
              </a:rP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658368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6E6E73"/>
                </a:solidFill>
                <a:latin typeface="Pretendard"/>
              </a:rPr>
              <a:t>05 · APPLY — 배운 걸 그날 내 것에</a:t>
            </a:r>
          </a:p>
        </p:txBody>
      </p:sp>
      <p:sp>
        <p:nvSpPr>
          <p:cNvPr id="3" name="Rectangle 2"/>
          <p:cNvSpPr/>
          <p:nvPr/>
        </p:nvSpPr>
        <p:spPr>
          <a:xfrm>
            <a:off x="877824" y="1024128"/>
            <a:ext cx="566928" cy="38100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7824" y="1234440"/>
            <a:ext cx="104360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D1D1F"/>
                </a:solidFill>
                <a:latin typeface="Pretendard"/>
              </a:rPr>
              <a:t>듣고 끝이 아니라, 그날 만들었다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286000"/>
            <a:ext cx="10436047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②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KEY→CRUD 그대로.  </a:t>
            </a:r>
            <a:r>
              <a:rPr sz="1600">
                <a:solidFill>
                  <a:srgbClr val="6E6E73"/>
                </a:solidFill>
                <a:latin typeface="Pretendard"/>
              </a:rPr>
              <a:t>게시판 /board · 관리자 /admin 을 그날 구축. 정적 사이트 위 localStorage로 실제 동작, KEY만 꽂으면 실서버로 승격.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⑤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서브에이전트 그대로.  </a:t>
            </a:r>
            <a:r>
              <a:rPr sz="1600">
                <a:solidFill>
                  <a:srgbClr val="6E6E73"/>
                </a:solidFill>
                <a:latin typeface="Pretendard"/>
              </a:rPr>
              <a:t>공유회 스크린샷 32장을 병렬 MECE로 정리 — 배운 방법을 문서화하는 그 자리에서 써먹었다.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—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자가검수로 실버그 2건.  </a:t>
            </a:r>
            <a:r>
              <a:rPr sz="1600">
                <a:solidFill>
                  <a:srgbClr val="6E6E73"/>
                </a:solidFill>
                <a:latin typeface="Pretendard"/>
              </a:rPr>
              <a:t>빈 모달 노출 · 관리자 재방문 TDZ 에러를 스크린샷 검수로 잡아 고쳤다.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—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라이브.  </a:t>
            </a:r>
            <a:r>
              <a:rPr sz="1600">
                <a:solidFill>
                  <a:srgbClr val="6E6E73"/>
                </a:solidFill>
                <a:latin typeface="Pretendard"/>
              </a:rPr>
              <a:t>hyun-arch.github.io/board · /admin — 이미 돌아간다.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6263640"/>
            <a:ext cx="10436047" cy="0"/>
          </a:xfrm>
          <a:prstGeom prst="bentConnector3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6355080"/>
            <a:ext cx="1043604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6E6E73"/>
                </a:solidFill>
                <a:latin typeface="Pretendard"/>
              </a:rPr>
              <a:t>Aramirror</a:t>
            </a:r>
            <a:r>
              <a:rPr sz="900" b="0">
                <a:solidFill>
                  <a:srgbClr val="6E6E73"/>
                </a:solidFill>
                <a:latin typeface="Pretendard"/>
              </a:rPr>
              <a:t>  — AI는 거울이 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6355080"/>
            <a:ext cx="1043604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E6E73"/>
                </a:solidFill>
                <a:latin typeface="Pretendard"/>
              </a:rP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7824" y="658368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6E6E73"/>
                </a:solidFill>
                <a:latin typeface="Pretendard"/>
              </a:rPr>
              <a:t>06 · NOW — 지금, 그리고 배운 것</a:t>
            </a:r>
          </a:p>
        </p:txBody>
      </p:sp>
      <p:sp>
        <p:nvSpPr>
          <p:cNvPr id="3" name="Rectangle 2"/>
          <p:cNvSpPr/>
          <p:nvPr/>
        </p:nvSpPr>
        <p:spPr>
          <a:xfrm>
            <a:off x="877824" y="1024128"/>
            <a:ext cx="566928" cy="38100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7824" y="1234440"/>
            <a:ext cx="104360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D1D1F"/>
                </a:solidFill>
                <a:latin typeface="Pretendard"/>
              </a:rPr>
              <a:t>이미 살아 움직인다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286000"/>
            <a:ext cx="10436047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  <a:spcAft>
                <a:spcPts val="14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—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라이브 배포 완료.  </a:t>
            </a:r>
            <a:r>
              <a:rPr sz="1600">
                <a:solidFill>
                  <a:srgbClr val="6E6E73"/>
                </a:solidFill>
                <a:latin typeface="Pretendard"/>
              </a:rPr>
              <a:t>hyun-arch.github.io — The Wall · 몰입(Flow) · 게시판까지.</a:t>
            </a:r>
          </a:p>
          <a:p>
            <a:pPr>
              <a:lnSpc>
                <a:spcPct val="124000"/>
              </a:lnSpc>
              <a:spcAft>
                <a:spcPts val="1400"/>
              </a:spcAft>
            </a:pPr>
            <a:r>
              <a:rPr sz="1900" b="1">
                <a:solidFill>
                  <a:srgbClr val="1D1D1F"/>
                </a:solidFill>
                <a:latin typeface="Pretendard"/>
              </a:rPr>
              <a:t>—  </a:t>
            </a:r>
            <a:r>
              <a:rPr sz="1900" b="1">
                <a:solidFill>
                  <a:srgbClr val="1D1D1F"/>
                </a:solidFill>
                <a:latin typeface="Pretendard"/>
              </a:rPr>
              <a:t>매일 아침 7시.  </a:t>
            </a:r>
            <a:r>
              <a:rPr sz="1600">
                <a:solidFill>
                  <a:srgbClr val="6E6E73"/>
                </a:solidFill>
                <a:latin typeface="Pretendard"/>
              </a:rPr>
              <a:t>밤새 종합한 걸 텔레그램으로 받는다 → 피드백 → 다듬기. OS가 돈다.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4297680"/>
            <a:ext cx="10436047" cy="0"/>
          </a:xfrm>
          <a:prstGeom prst="bentConnector3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480560"/>
            <a:ext cx="1043604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D1D1F"/>
                </a:solidFill>
                <a:latin typeface="Pretendard"/>
              </a:rPr>
              <a:t>“기록이 아니라 '승격'이 핵심이다.”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30368"/>
            <a:ext cx="1043604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E6E73"/>
                </a:solidFill>
                <a:latin typeface="Pretendard"/>
              </a:rPr>
              <a:t>그리고 — 강의를 들었다가 아니라 '그날 바로 하나 만들었다'가 남는다. 배움도 그날 재활용해야 자산이 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6263640"/>
            <a:ext cx="10436047" cy="0"/>
          </a:xfrm>
          <a:prstGeom prst="bentConnector3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6355080"/>
            <a:ext cx="1043604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6E6E73"/>
                </a:solidFill>
                <a:latin typeface="Pretendard"/>
              </a:rPr>
              <a:t>Aramirror</a:t>
            </a:r>
            <a:r>
              <a:rPr sz="900" b="0">
                <a:solidFill>
                  <a:srgbClr val="6E6E73"/>
                </a:solidFill>
                <a:latin typeface="Pretendard"/>
              </a:rPr>
              <a:t>  — AI는 거울이 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6355080"/>
            <a:ext cx="1043604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E6E73"/>
                </a:solidFill>
                <a:latin typeface="Pretendard"/>
              </a:rP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